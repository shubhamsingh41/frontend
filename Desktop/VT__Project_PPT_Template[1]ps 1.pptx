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8" r:id="rId1"/>
  </p:sldMasterIdLst>
  <p:notesMasterIdLst>
    <p:notesMasterId r:id="rId11"/>
  </p:notesMasterIdLst>
  <p:sldIdLst>
    <p:sldId id="256" r:id="rId2"/>
    <p:sldId id="257" r:id="rId3"/>
    <p:sldId id="258" r:id="rId4"/>
    <p:sldId id="259" r:id="rId5"/>
    <p:sldId id="262" r:id="rId6"/>
    <p:sldId id="260" r:id="rId7"/>
    <p:sldId id="263" r:id="rId8"/>
    <p:sldId id="265" r:id="rId9"/>
    <p:sldId id="261"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D80B2B-FE81-464A-863C-29D7F2F10828}" type="datetimeFigureOut">
              <a:rPr lang="en-US" smtClean="0"/>
              <a:t>11/19/2024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18255F-96AD-46C6-BAC4-A5C0578B8FA4}" type="slidenum">
              <a:rPr lang="en-US" smtClean="0"/>
              <a:t>‹#›</a:t>
            </a:fld>
            <a:endParaRPr lang="en-US"/>
          </a:p>
        </p:txBody>
      </p:sp>
    </p:spTree>
    <p:extLst>
      <p:ext uri="{BB962C8B-B14F-4D97-AF65-F5344CB8AC3E}">
        <p14:creationId xmlns:p14="http://schemas.microsoft.com/office/powerpoint/2010/main" val="278374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18255F-96AD-46C6-BAC4-A5C0578B8FA4}" type="slidenum">
              <a:rPr lang="en-US" smtClean="0"/>
              <a:t>8</a:t>
            </a:fld>
            <a:endParaRPr lang="en-US"/>
          </a:p>
        </p:txBody>
      </p:sp>
    </p:spTree>
    <p:extLst>
      <p:ext uri="{BB962C8B-B14F-4D97-AF65-F5344CB8AC3E}">
        <p14:creationId xmlns:p14="http://schemas.microsoft.com/office/powerpoint/2010/main" val="36428452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380B3AF1-38C7-4CDA-91D7-F4CFAC22956E}" type="datetimeFigureOut">
              <a:rPr lang="en-US" smtClean="0"/>
              <a:t>11/19/2024</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4034842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0B3AF1-38C7-4CDA-91D7-F4CFAC22956E}"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1893432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80B3AF1-38C7-4CDA-91D7-F4CFAC22956E}"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2450740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0B3AF1-38C7-4CDA-91D7-F4CFAC22956E}"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4230337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0B3AF1-38C7-4CDA-91D7-F4CFAC22956E}" type="datetimeFigureOut">
              <a:rPr lang="en-US" smtClean="0"/>
              <a:t>11/19/2024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1902837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0B3AF1-38C7-4CDA-91D7-F4CFAC22956E}" type="datetimeFigureOut">
              <a:rPr lang="en-US" smtClean="0"/>
              <a:t>11/19/2024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3554888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380B3AF1-38C7-4CDA-91D7-F4CFAC22956E}" type="datetimeFigureOut">
              <a:rPr lang="en-US" smtClean="0"/>
              <a:t>11/19/2024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112707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80B3AF1-38C7-4CDA-91D7-F4CFAC22956E}"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1446671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80B3AF1-38C7-4CDA-91D7-F4CFAC22956E}"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2113563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80B3AF1-38C7-4CDA-91D7-F4CFAC22956E}"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1298896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80B3AF1-38C7-4CDA-91D7-F4CFAC22956E}"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8626966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80B3AF1-38C7-4CDA-91D7-F4CFAC22956E}"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2656062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80B3AF1-38C7-4CDA-91D7-F4CFAC22956E}"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643837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80B3AF1-38C7-4CDA-91D7-F4CFAC22956E}" type="datetimeFigureOut">
              <a:rPr lang="en-US" smtClean="0"/>
              <a:t>11/19/2024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2890865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80B3AF1-38C7-4CDA-91D7-F4CFAC22956E}" type="datetimeFigureOut">
              <a:rPr lang="en-US" smtClean="0"/>
              <a:t>11/19/2024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24188261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0B3AF1-38C7-4CDA-91D7-F4CFAC22956E}"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211960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0B3AF1-38C7-4CDA-91D7-F4CFAC22956E}"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3094123-5A7E-424F-B458-4AAAC087C7C1}" type="slidenum">
              <a:rPr lang="en-US" smtClean="0"/>
              <a:t>‹#›</a:t>
            </a:fld>
            <a:endParaRPr lang="en-US"/>
          </a:p>
        </p:txBody>
      </p:sp>
    </p:spTree>
    <p:extLst>
      <p:ext uri="{BB962C8B-B14F-4D97-AF65-F5344CB8AC3E}">
        <p14:creationId xmlns:p14="http://schemas.microsoft.com/office/powerpoint/2010/main" val="19252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380B3AF1-38C7-4CDA-91D7-F4CFAC22956E}" type="datetimeFigureOut">
              <a:rPr lang="en-US" smtClean="0"/>
              <a:t>11/19/2024</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33094123-5A7E-424F-B458-4AAAC087C7C1}" type="slidenum">
              <a:rPr lang="en-US" smtClean="0"/>
              <a:t>‹#›</a:t>
            </a:fld>
            <a:endParaRPr lang="en-US"/>
          </a:p>
        </p:txBody>
      </p:sp>
    </p:spTree>
    <p:extLst>
      <p:ext uri="{BB962C8B-B14F-4D97-AF65-F5344CB8AC3E}">
        <p14:creationId xmlns:p14="http://schemas.microsoft.com/office/powerpoint/2010/main" val="2753365329"/>
      </p:ext>
    </p:extLst>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64" r:id="rId16"/>
    <p:sldLayoutId id="2147483965"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1"/>
            <a:ext cx="7632927" cy="1295399"/>
          </a:xfrm>
        </p:spPr>
        <p:txBody>
          <a:bodyPr>
            <a:normAutofit/>
          </a:bodyPr>
          <a:lstStyle/>
          <a:p>
            <a:pPr algn="ctr"/>
            <a:r>
              <a:rPr lang="en-US" sz="4400" b="1" i="1" dirty="0"/>
              <a:t>SUMMER TRAINING REPORT</a:t>
            </a:r>
          </a:p>
        </p:txBody>
      </p:sp>
      <p:sp>
        <p:nvSpPr>
          <p:cNvPr id="3" name="Subtitle 2"/>
          <p:cNvSpPr>
            <a:spLocks noGrp="1"/>
          </p:cNvSpPr>
          <p:nvPr>
            <p:ph type="subTitle" idx="1"/>
          </p:nvPr>
        </p:nvSpPr>
        <p:spPr>
          <a:xfrm>
            <a:off x="762001" y="1981200"/>
            <a:ext cx="7543799" cy="2362200"/>
          </a:xfrm>
        </p:spPr>
        <p:txBody>
          <a:bodyPr>
            <a:normAutofit/>
          </a:bodyPr>
          <a:lstStyle/>
          <a:p>
            <a:r>
              <a:rPr lang="en-US" sz="2400" b="1" dirty="0">
                <a:latin typeface="Calisto MT" panose="02040603050505030304" pitchFamily="18" charset="0"/>
              </a:rPr>
              <a:t>Institute /Company Name</a:t>
            </a:r>
            <a:r>
              <a:rPr lang="en-US" b="1" dirty="0">
                <a:latin typeface="Calisto MT" panose="02040603050505030304" pitchFamily="18" charset="0"/>
              </a:rPr>
              <a:t>:  </a:t>
            </a:r>
            <a:r>
              <a:rPr lang="en-US" sz="2400" b="1" dirty="0">
                <a:latin typeface="Calisto MT" panose="02040603050505030304" pitchFamily="18" charset="0"/>
                <a:ea typeface="Cambria" panose="02040503050406030204" pitchFamily="18" charset="0"/>
              </a:rPr>
              <a:t>CISCO NETWORKING ACADEMY</a:t>
            </a:r>
            <a:endParaRPr lang="en-US" b="1" dirty="0">
              <a:latin typeface="Calisto MT" panose="02040603050505030304" pitchFamily="18" charset="0"/>
              <a:ea typeface="Cambria" panose="02040503050406030204" pitchFamily="18" charset="0"/>
            </a:endParaRPr>
          </a:p>
          <a:p>
            <a:r>
              <a:rPr lang="en-US" b="1" dirty="0">
                <a:latin typeface="Calisto MT" panose="02040603050505030304" pitchFamily="18" charset="0"/>
              </a:rPr>
              <a:t> </a:t>
            </a:r>
            <a:r>
              <a:rPr lang="en-US" sz="2400" b="1" dirty="0">
                <a:latin typeface="Calisto MT" panose="02040603050505030304" pitchFamily="18" charset="0"/>
              </a:rPr>
              <a:t>Resource  Person:  </a:t>
            </a:r>
            <a:r>
              <a:rPr lang="en-US" sz="2400" b="1" dirty="0">
                <a:latin typeface="Calisto MT" panose="02040603050505030304" pitchFamily="18" charset="0"/>
                <a:ea typeface="Cambria" panose="02040503050406030204" pitchFamily="18" charset="0"/>
              </a:rPr>
              <a:t>PRERANA DEWANGAN</a:t>
            </a:r>
          </a:p>
          <a:p>
            <a:r>
              <a:rPr lang="en-US" b="1" dirty="0">
                <a:latin typeface="Calisto MT" panose="02040603050505030304" pitchFamily="18" charset="0"/>
              </a:rPr>
              <a:t> </a:t>
            </a:r>
            <a:r>
              <a:rPr lang="en-US" sz="2400" b="1" dirty="0">
                <a:latin typeface="Calisto MT" panose="02040603050505030304" pitchFamily="18" charset="0"/>
              </a:rPr>
              <a:t>Duration </a:t>
            </a:r>
            <a:r>
              <a:rPr lang="en-US" b="1" dirty="0">
                <a:latin typeface="Calisto MT" panose="02040603050505030304" pitchFamily="18" charset="0"/>
              </a:rPr>
              <a:t>:  </a:t>
            </a:r>
            <a:r>
              <a:rPr lang="en-US" sz="2400" b="1" dirty="0">
                <a:latin typeface="Calisto MT" panose="02040603050505030304" pitchFamily="18" charset="0"/>
                <a:ea typeface="Cambria" panose="02040503050406030204" pitchFamily="18" charset="0"/>
              </a:rPr>
              <a:t>1 MONTH</a:t>
            </a:r>
          </a:p>
          <a:p>
            <a:r>
              <a:rPr lang="en-US" dirty="0"/>
              <a:t> </a:t>
            </a:r>
          </a:p>
        </p:txBody>
      </p:sp>
      <p:sp>
        <p:nvSpPr>
          <p:cNvPr id="4" name="Title 1"/>
          <p:cNvSpPr txBox="1">
            <a:spLocks/>
          </p:cNvSpPr>
          <p:nvPr/>
        </p:nvSpPr>
        <p:spPr>
          <a:xfrm>
            <a:off x="2286000" y="5638800"/>
            <a:ext cx="6858000" cy="990600"/>
          </a:xfrm>
          <a:prstGeom prst="rect">
            <a:avLst/>
          </a:prstGeom>
        </p:spPr>
        <p:txBody>
          <a:bodyPr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300" b="0" i="0" u="none" strike="noStrike" kern="1200" cap="none" spc="0" normalizeH="0" baseline="0" noProof="0" dirty="0">
              <a:ln>
                <a:noFill/>
              </a:ln>
              <a:solidFill>
                <a:schemeClr val="tx2">
                  <a:satMod val="130000"/>
                </a:schemeClr>
              </a:solidFill>
              <a:effectLst>
                <a:outerShdw blurRad="50000" dist="30000" dir="5400000" algn="tl" rotWithShape="0">
                  <a:srgbClr val="000000">
                    <a:alpha val="30000"/>
                  </a:srgbClr>
                </a:outerShdw>
              </a:effectLst>
              <a:uLnTx/>
              <a:uFillTx/>
              <a:latin typeface="+mj-lt"/>
              <a:ea typeface="+mj-ea"/>
              <a:cs typeface="+mj-cs"/>
            </a:endParaRPr>
          </a:p>
        </p:txBody>
      </p:sp>
      <p:sp>
        <p:nvSpPr>
          <p:cNvPr id="5" name="Subtitle 2"/>
          <p:cNvSpPr txBox="1">
            <a:spLocks/>
          </p:cNvSpPr>
          <p:nvPr/>
        </p:nvSpPr>
        <p:spPr>
          <a:xfrm>
            <a:off x="609600" y="4724400"/>
            <a:ext cx="7924800" cy="2133600"/>
          </a:xfrm>
          <a:prstGeom prst="rect">
            <a:avLst/>
          </a:prstGeom>
        </p:spPr>
        <p:txBody>
          <a:bodyPr tIns="0">
            <a:normAutofit/>
          </a:bodyPr>
          <a:lstStyle/>
          <a:p>
            <a:pPr marL="27432" marR="0" lvl="0" indent="0" algn="r"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US" sz="2600" b="1" i="0" u="none" strike="noStrike" kern="1200" cap="none" spc="0" normalizeH="0" baseline="0" noProof="0" dirty="0">
                <a:ln>
                  <a:noFill/>
                </a:ln>
                <a:solidFill>
                  <a:schemeClr val="bg1"/>
                </a:solidFill>
                <a:effectLst/>
                <a:uLnTx/>
                <a:uFillTx/>
                <a:latin typeface="Calisto MT" panose="02040603050505030304" pitchFamily="18" charset="0"/>
              </a:rPr>
              <a:t>Student Name </a:t>
            </a:r>
            <a:r>
              <a:rPr kumimoji="0" lang="en-US" sz="2600" b="1" i="0" u="none" strike="noStrike" kern="1200" cap="none" spc="0" normalizeH="0" baseline="0" noProof="0" dirty="0">
                <a:ln>
                  <a:noFill/>
                </a:ln>
                <a:solidFill>
                  <a:schemeClr val="bg1"/>
                </a:solidFill>
                <a:effectLst/>
                <a:uLnTx/>
                <a:uFillTx/>
                <a:latin typeface="Calisto MT" panose="02040603050505030304" pitchFamily="18" charset="0"/>
                <a:ea typeface="Cambria" panose="02040503050406030204" pitchFamily="18" charset="0"/>
              </a:rPr>
              <a:t>: </a:t>
            </a:r>
            <a:r>
              <a:rPr lang="en-US" sz="2000" b="1" dirty="0">
                <a:solidFill>
                  <a:schemeClr val="bg1"/>
                </a:solidFill>
                <a:latin typeface="Calisto MT" panose="02040603050505030304" pitchFamily="18" charset="0"/>
                <a:ea typeface="Cambria" panose="02040503050406030204" pitchFamily="18" charset="0"/>
              </a:rPr>
              <a:t>SHUBHAM KUMAR SINGH</a:t>
            </a:r>
          </a:p>
          <a:p>
            <a:pPr marL="27432" marR="0" lvl="0" indent="0" algn="r"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US" sz="2400" b="1" i="0" u="none" strike="noStrike" kern="1200" cap="none" spc="0" normalizeH="0" baseline="0" noProof="0" dirty="0">
                <a:ln>
                  <a:noFill/>
                </a:ln>
                <a:solidFill>
                  <a:schemeClr val="bg1"/>
                </a:solidFill>
                <a:effectLst/>
                <a:uLnTx/>
                <a:uFillTx/>
                <a:latin typeface="Calisto MT" panose="02040603050505030304" pitchFamily="18" charset="0"/>
                <a:ea typeface="Cambria" panose="02040503050406030204" pitchFamily="18" charset="0"/>
              </a:rPr>
              <a:t>SECTION : CSE (AI)     </a:t>
            </a:r>
          </a:p>
          <a:p>
            <a:pPr marL="27432" marR="0" lvl="0" indent="0" algn="r"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US" sz="2600" b="1" i="0" u="none" strike="noStrike" kern="1200" cap="none" spc="0" normalizeH="0" baseline="0" noProof="0" dirty="0">
                <a:ln>
                  <a:noFill/>
                </a:ln>
                <a:solidFill>
                  <a:schemeClr val="bg1"/>
                </a:solidFill>
                <a:effectLst/>
                <a:uLnTx/>
                <a:uFillTx/>
                <a:latin typeface="Calisto MT" panose="02040603050505030304" pitchFamily="18" charset="0"/>
              </a:rPr>
              <a:t>University Roll No: </a:t>
            </a:r>
            <a:r>
              <a:rPr kumimoji="0" lang="en-US" sz="2400" b="1" i="0" u="none" strike="noStrike" kern="1200" cap="none" spc="0" normalizeH="0" baseline="0" noProof="0" dirty="0">
                <a:ln>
                  <a:noFill/>
                </a:ln>
                <a:solidFill>
                  <a:schemeClr val="bg1"/>
                </a:solidFill>
                <a:effectLst/>
                <a:uLnTx/>
                <a:uFillTx/>
                <a:latin typeface="Calisto MT" panose="02040603050505030304" pitchFamily="18" charset="0"/>
                <a:ea typeface="Cambria" panose="02040503050406030204" pitchFamily="18" charset="0"/>
              </a:rPr>
              <a:t>301411322001</a:t>
            </a:r>
            <a:r>
              <a:rPr kumimoji="0" lang="en-US" sz="2600" b="1" i="0" u="none" strike="noStrike" kern="1200" cap="none" spc="0" normalizeH="0" baseline="0" noProof="0" dirty="0">
                <a:ln>
                  <a:noFill/>
                </a:ln>
                <a:solidFill>
                  <a:schemeClr val="bg1"/>
                </a:solidFill>
                <a:effectLst/>
                <a:uLnTx/>
                <a:uFillTx/>
                <a:latin typeface="Calisto MT" panose="02040603050505030304" pitchFamily="18" charset="0"/>
              </a:rPr>
              <a:t>  </a:t>
            </a:r>
          </a:p>
          <a:p>
            <a:pPr marL="27432" marR="0" lvl="0" indent="0" algn="r"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US" sz="2600" b="0" i="0" u="none" strike="noStrike" kern="1200" cap="none" spc="0" normalizeH="0" baseline="0" noProof="0" dirty="0">
                <a:ln>
                  <a:noFill/>
                </a:ln>
                <a:solidFill>
                  <a:schemeClr val="tx2">
                    <a:shade val="30000"/>
                    <a:satMod val="150000"/>
                  </a:schemeClr>
                </a:solidFill>
                <a:effectLst/>
                <a:uLnTx/>
                <a:uFillTx/>
                <a:latin typeface="+mn-lt"/>
                <a:ea typeface="+mn-ea"/>
                <a:cs typeface="+mn-cs"/>
              </a:rPr>
              <a:t> </a:t>
            </a:r>
          </a:p>
        </p:txBody>
      </p:sp>
    </p:spTree>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6136"/>
            <a:ext cx="7239000" cy="2514599"/>
          </a:xfrm>
        </p:spPr>
        <p:txBody>
          <a:bodyPr>
            <a:normAutofit/>
          </a:bodyPr>
          <a:lstStyle/>
          <a:p>
            <a:r>
              <a:rPr lang="en-US" sz="4000" b="1" i="1" dirty="0">
                <a:latin typeface="Cambria" panose="02040503050406030204" pitchFamily="18" charset="0"/>
                <a:ea typeface="Cambria" panose="02040503050406030204" pitchFamily="18" charset="0"/>
              </a:rPr>
              <a:t>VOCATIONAL TRAINING CERTIFICATE</a:t>
            </a:r>
          </a:p>
        </p:txBody>
      </p:sp>
      <p:pic>
        <p:nvPicPr>
          <p:cNvPr id="7" name="Content Placeholder 6">
            <a:extLst>
              <a:ext uri="{FF2B5EF4-FFF2-40B4-BE49-F238E27FC236}">
                <a16:creationId xmlns:a16="http://schemas.microsoft.com/office/drawing/2014/main" id="{B716FD0C-D596-2AE0-78C2-F559E61FEF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2209800"/>
            <a:ext cx="8762999" cy="4495800"/>
          </a:xfrm>
        </p:spPr>
      </p:pic>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381000"/>
            <a:ext cx="7704667" cy="3124201"/>
          </a:xfrm>
        </p:spPr>
        <p:txBody>
          <a:bodyPr/>
          <a:lstStyle/>
          <a:p>
            <a:r>
              <a:rPr lang="en-US" sz="4400" b="1" i="1" dirty="0">
                <a:latin typeface="Cambria" panose="02040503050406030204" pitchFamily="18" charset="0"/>
                <a:ea typeface="Cambria" panose="02040503050406030204" pitchFamily="18" charset="0"/>
              </a:rPr>
              <a:t>INTRODUCTION</a:t>
            </a:r>
          </a:p>
        </p:txBody>
      </p:sp>
      <p:sp>
        <p:nvSpPr>
          <p:cNvPr id="3" name="Content Placeholder 2"/>
          <p:cNvSpPr>
            <a:spLocks noGrp="1"/>
          </p:cNvSpPr>
          <p:nvPr>
            <p:ph idx="1"/>
          </p:nvPr>
        </p:nvSpPr>
        <p:spPr>
          <a:xfrm>
            <a:off x="914399" y="2667000"/>
            <a:ext cx="7704667" cy="4114800"/>
          </a:xfrm>
        </p:spPr>
        <p:txBody>
          <a:bodyPr>
            <a:normAutofit/>
          </a:bodyPr>
          <a:lstStyle/>
          <a:p>
            <a:pPr marL="0" indent="0">
              <a:buNone/>
            </a:pPr>
            <a:r>
              <a:rPr lang="en-US" sz="2400" i="1" dirty="0">
                <a:latin typeface="Calisto MT" panose="02040603050505030304" pitchFamily="18" charset="0"/>
              </a:rPr>
              <a:t>The </a:t>
            </a:r>
            <a:r>
              <a:rPr lang="en-US" sz="2400" b="1" i="1" dirty="0">
                <a:latin typeface="Calisto MT" panose="02040603050505030304" pitchFamily="18" charset="0"/>
              </a:rPr>
              <a:t>1 Month Programming Essentials in Python </a:t>
            </a:r>
            <a:r>
              <a:rPr lang="en-US" sz="2400" i="1" dirty="0">
                <a:latin typeface="Calisto MT" panose="02040603050505030304" pitchFamily="18" charset="0"/>
              </a:rPr>
              <a:t>provided by </a:t>
            </a:r>
            <a:r>
              <a:rPr lang="en-US" sz="2400" b="1" i="1" dirty="0">
                <a:latin typeface="Calisto MT" panose="02040603050505030304" pitchFamily="18" charset="0"/>
              </a:rPr>
              <a:t>Cisco Networking Academy </a:t>
            </a:r>
            <a:r>
              <a:rPr lang="en-US" sz="2400" i="1" dirty="0">
                <a:latin typeface="Calisto MT" panose="02040603050505030304" pitchFamily="18" charset="0"/>
              </a:rPr>
              <a:t>was an immersive and hands-on training program designed to provide participants with foundational skills in web development. The primary goal of the bootcamp was to recreate the user interface (UI) of Instagram—a widely used social media platform—using only </a:t>
            </a:r>
            <a:r>
              <a:rPr lang="en-US" sz="2400" b="1" i="1" dirty="0">
                <a:latin typeface="Calisto MT" panose="02040603050505030304" pitchFamily="18" charset="0"/>
              </a:rPr>
              <a:t>Python </a:t>
            </a:r>
            <a:r>
              <a:rPr lang="en-US" sz="2400" i="1" dirty="0">
                <a:latin typeface="Calisto MT" panose="02040603050505030304" pitchFamily="18" charset="0"/>
              </a:rPr>
              <a:t>. This project-focused approach allowed participants to apply theoretical knowledge to a real-world application, fostering a deeper understanding of web design principles</a:t>
            </a:r>
            <a:r>
              <a:rPr lang="en-US" sz="2400" dirty="0">
                <a:latin typeface="Calisto MT" panose="02040603050505030304" pitchFamily="18" charset="0"/>
              </a:rPr>
              <a:t>.</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04667" cy="2971801"/>
          </a:xfrm>
        </p:spPr>
        <p:txBody>
          <a:bodyPr/>
          <a:lstStyle/>
          <a:p>
            <a:r>
              <a:rPr lang="en-US" sz="4400" b="1" i="1" dirty="0">
                <a:latin typeface="Cambria" panose="02040503050406030204" pitchFamily="18" charset="0"/>
                <a:ea typeface="Cambria" panose="02040503050406030204" pitchFamily="18" charset="0"/>
              </a:rPr>
              <a:t>TECHNOLOGY</a:t>
            </a:r>
            <a:endParaRPr lang="en-US" sz="4400" b="1" i="1" dirty="0"/>
          </a:p>
        </p:txBody>
      </p:sp>
      <p:sp>
        <p:nvSpPr>
          <p:cNvPr id="3" name="Content Placeholder 2"/>
          <p:cNvSpPr>
            <a:spLocks noGrp="1"/>
          </p:cNvSpPr>
          <p:nvPr>
            <p:ph idx="1"/>
          </p:nvPr>
        </p:nvSpPr>
        <p:spPr>
          <a:xfrm>
            <a:off x="719666" y="2286000"/>
            <a:ext cx="7704667" cy="4114800"/>
          </a:xfrm>
        </p:spPr>
        <p:txBody>
          <a:bodyPr>
            <a:noAutofit/>
          </a:bodyPr>
          <a:lstStyle/>
          <a:p>
            <a:r>
              <a:rPr lang="en-US" sz="2000" dirty="0">
                <a:latin typeface="Calisto MT" panose="02040603050505030304" pitchFamily="18" charset="0"/>
              </a:rPr>
              <a:t>Python is used across various technologies, including web development with frameworks like Django, Flask, and </a:t>
            </a:r>
            <a:r>
              <a:rPr lang="en-US" sz="2000" dirty="0" err="1">
                <a:latin typeface="Calisto MT" panose="02040603050505030304" pitchFamily="18" charset="0"/>
              </a:rPr>
              <a:t>FastAPI</a:t>
            </a:r>
            <a:r>
              <a:rPr lang="en-US" sz="2000" dirty="0">
                <a:latin typeface="Calisto MT" panose="02040603050505030304" pitchFamily="18" charset="0"/>
              </a:rPr>
              <a:t>. For data science, libraries such as NumPy, Pandas, and TensorFlow are popular. It powers automation through tools like Selenium and </a:t>
            </a:r>
            <a:r>
              <a:rPr lang="en-US" sz="2000" dirty="0" err="1">
                <a:latin typeface="Calisto MT" panose="02040603050505030304" pitchFamily="18" charset="0"/>
              </a:rPr>
              <a:t>BeautifulSoup</a:t>
            </a:r>
            <a:r>
              <a:rPr lang="en-US" sz="2000" dirty="0">
                <a:latin typeface="Calisto MT" panose="02040603050505030304" pitchFamily="18" charset="0"/>
              </a:rPr>
              <a:t>, while in game development, libraries like </a:t>
            </a:r>
            <a:r>
              <a:rPr lang="en-US" sz="2000" dirty="0" err="1">
                <a:latin typeface="Calisto MT" panose="02040603050505030304" pitchFamily="18" charset="0"/>
              </a:rPr>
              <a:t>Pygame</a:t>
            </a:r>
            <a:r>
              <a:rPr lang="en-US" sz="2000" dirty="0">
                <a:latin typeface="Calisto MT" panose="02040603050505030304" pitchFamily="18" charset="0"/>
              </a:rPr>
              <a:t> are common. Python supports embedded systems with </a:t>
            </a:r>
            <a:r>
              <a:rPr lang="en-US" sz="2000" dirty="0" err="1">
                <a:latin typeface="Calisto MT" panose="02040603050505030304" pitchFamily="18" charset="0"/>
              </a:rPr>
              <a:t>MicroPython</a:t>
            </a:r>
            <a:r>
              <a:rPr lang="en-US" sz="2000" dirty="0">
                <a:latin typeface="Calisto MT" panose="02040603050505030304" pitchFamily="18" charset="0"/>
              </a:rPr>
              <a:t>, and for desktop apps, </a:t>
            </a:r>
            <a:r>
              <a:rPr lang="en-US" sz="2000" dirty="0" err="1">
                <a:latin typeface="Calisto MT" panose="02040603050505030304" pitchFamily="18" charset="0"/>
              </a:rPr>
              <a:t>Tkinter</a:t>
            </a:r>
            <a:r>
              <a:rPr lang="en-US" sz="2000" dirty="0">
                <a:latin typeface="Calisto MT" panose="02040603050505030304" pitchFamily="18" charset="0"/>
              </a:rPr>
              <a:t> and </a:t>
            </a:r>
            <a:r>
              <a:rPr lang="en-US" sz="2000" dirty="0" err="1">
                <a:latin typeface="Calisto MT" panose="02040603050505030304" pitchFamily="18" charset="0"/>
              </a:rPr>
              <a:t>PyQt</a:t>
            </a:r>
            <a:r>
              <a:rPr lang="en-US" sz="2000" dirty="0">
                <a:latin typeface="Calisto MT" panose="02040603050505030304" pitchFamily="18" charset="0"/>
              </a:rPr>
              <a:t> are widely used. It’s also prominent in DevOps (e.g., Ansible), cloud computing (AWS, Google Cloud), and testing (</a:t>
            </a:r>
            <a:r>
              <a:rPr lang="en-US" sz="2000" dirty="0" err="1">
                <a:latin typeface="Calisto MT" panose="02040603050505030304" pitchFamily="18" charset="0"/>
              </a:rPr>
              <a:t>PyTest</a:t>
            </a:r>
            <a:r>
              <a:rPr lang="en-US" sz="2000" dirty="0">
                <a:latin typeface="Calisto MT" panose="02040603050505030304" pitchFamily="18" charset="0"/>
              </a:rPr>
              <a:t>). Python excels in natural language processing with NLTK and </a:t>
            </a:r>
            <a:r>
              <a:rPr lang="en-US" sz="2000" dirty="0" err="1">
                <a:latin typeface="Calisto MT" panose="02040603050505030304" pitchFamily="18" charset="0"/>
              </a:rPr>
              <a:t>spaCy</a:t>
            </a:r>
            <a:r>
              <a:rPr lang="en-US" sz="2000" dirty="0">
                <a:latin typeface="Calisto MT" panose="02040603050505030304" pitchFamily="18" charset="0"/>
              </a:rPr>
              <a:t> and supports databases via </a:t>
            </a:r>
            <a:r>
              <a:rPr lang="en-US" sz="2000" dirty="0" err="1">
                <a:latin typeface="Calisto MT" panose="02040603050505030304" pitchFamily="18" charset="0"/>
              </a:rPr>
              <a:t>SQLAlchemy</a:t>
            </a:r>
            <a:r>
              <a:rPr lang="en-US" sz="2000" dirty="0">
                <a:latin typeface="Calisto MT" panose="02040603050505030304" pitchFamily="18" charset="0"/>
              </a:rPr>
              <a:t> and MongoDB.</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DC47AE0-7D95-4947-9D4E-484D16F8099E}"/>
              </a:ext>
            </a:extLst>
          </p:cNvPr>
          <p:cNvSpPr>
            <a:spLocks noGrp="1" noChangeArrowheads="1"/>
          </p:cNvSpPr>
          <p:nvPr>
            <p:ph idx="1"/>
          </p:nvPr>
        </p:nvSpPr>
        <p:spPr bwMode="auto">
          <a:xfrm>
            <a:off x="457200" y="1684586"/>
            <a:ext cx="84582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Python is utilized across a wide range of technologies, making it a versatile language in various domains:</a:t>
            </a:r>
          </a:p>
          <a:p>
            <a:pPr marL="457200" marR="0" lvl="0" indent="-45720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*Web Development*:   - *Frameworks*: Django, Flask, </a:t>
            </a:r>
            <a:r>
              <a:rPr kumimoji="0" lang="en-US" altLang="en-US" b="0" i="0" u="none" strike="noStrike" cap="none" normalizeH="0" baseline="0" dirty="0" err="1">
                <a:ln>
                  <a:noFill/>
                </a:ln>
                <a:solidFill>
                  <a:schemeClr val="tx1"/>
                </a:solidFill>
                <a:effectLst/>
                <a:latin typeface="Arial" panose="020B0604020202020204" pitchFamily="34" charset="0"/>
              </a:rPr>
              <a:t>FastAPI</a:t>
            </a:r>
            <a:r>
              <a:rPr kumimoji="0" lang="en-US" altLang="en-US" b="0" i="0" u="none" strike="noStrike" cap="none" normalizeH="0" baseline="0" dirty="0">
                <a:ln>
                  <a:noFill/>
                </a:ln>
                <a:solidFill>
                  <a:schemeClr val="tx1"/>
                </a:solidFill>
                <a:effectLst/>
                <a:latin typeface="Arial" panose="020B0604020202020204" pitchFamily="34" charset="0"/>
              </a:rPr>
              <a:t>, Pyramid   - *Libraries*: Jinja2 (templating), </a:t>
            </a:r>
            <a:r>
              <a:rPr kumimoji="0" lang="en-US" altLang="en-US" b="0" i="0" u="none" strike="noStrike" cap="none" normalizeH="0" baseline="0" dirty="0" err="1">
                <a:ln>
                  <a:noFill/>
                </a:ln>
                <a:solidFill>
                  <a:schemeClr val="tx1"/>
                </a:solidFill>
                <a:effectLst/>
                <a:latin typeface="Arial" panose="020B0604020202020204" pitchFamily="34" charset="0"/>
              </a:rPr>
              <a:t>SQLAlchemy</a:t>
            </a:r>
            <a:r>
              <a:rPr kumimoji="0" lang="en-US" altLang="en-US" b="0" i="0" u="none" strike="noStrike" cap="none" normalizeH="0" baseline="0" dirty="0">
                <a:ln>
                  <a:noFill/>
                </a:ln>
                <a:solidFill>
                  <a:schemeClr val="tx1"/>
                </a:solidFill>
                <a:effectLst/>
                <a:latin typeface="Arial" panose="020B0604020202020204" pitchFamily="34" charset="0"/>
              </a:rPr>
              <a:t> (ORM), Celery (task queues)</a:t>
            </a:r>
          </a:p>
          <a:p>
            <a:pPr marL="457200" marR="0" lvl="0" indent="-45720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2. *Data Science &amp; Machine Learning*:   - *Libraries*: NumPy, Pandas, Matplotlib, Seaborn (visualization), SciPy (scientific computing), Scikit-learn (machine learning), TensorFlow, </a:t>
            </a:r>
            <a:r>
              <a:rPr kumimoji="0" lang="en-US" altLang="en-US" b="0" i="0" u="none" strike="noStrike" cap="none" normalizeH="0" baseline="0" dirty="0" err="1">
                <a:ln>
                  <a:noFill/>
                </a:ln>
                <a:solidFill>
                  <a:schemeClr val="tx1"/>
                </a:solidFill>
                <a:effectLst/>
                <a:latin typeface="Arial" panose="020B0604020202020204" pitchFamily="34" charset="0"/>
              </a:rPr>
              <a:t>PyTorch</a:t>
            </a:r>
            <a:r>
              <a:rPr kumimoji="0" lang="en-US" altLang="en-US" b="0" i="0" u="none" strike="noStrike" cap="none" normalizeH="0" baseline="0" dirty="0">
                <a:ln>
                  <a:noFill/>
                </a:ln>
                <a:solidFill>
                  <a:schemeClr val="tx1"/>
                </a:solidFill>
                <a:effectLst/>
                <a:latin typeface="Arial" panose="020B0604020202020204" pitchFamily="34" charset="0"/>
              </a:rPr>
              <a:t> (deep learning)   - *Tools*: </a:t>
            </a:r>
            <a:r>
              <a:rPr kumimoji="0" lang="en-US" altLang="en-US" b="0" i="0" u="none" strike="noStrike" cap="none" normalizeH="0" baseline="0" dirty="0" err="1">
                <a:ln>
                  <a:noFill/>
                </a:ln>
                <a:solidFill>
                  <a:schemeClr val="tx1"/>
                </a:solidFill>
                <a:effectLst/>
                <a:latin typeface="Arial" panose="020B0604020202020204" pitchFamily="34" charset="0"/>
              </a:rPr>
              <a:t>Jupyter</a:t>
            </a:r>
            <a:r>
              <a:rPr kumimoji="0" lang="en-US" altLang="en-US" b="0" i="0" u="none" strike="noStrike" cap="none" normalizeH="0" baseline="0" dirty="0">
                <a:ln>
                  <a:noFill/>
                </a:ln>
                <a:solidFill>
                  <a:schemeClr val="tx1"/>
                </a:solidFill>
                <a:effectLst/>
                <a:latin typeface="Arial" panose="020B0604020202020204" pitchFamily="34" charset="0"/>
              </a:rPr>
              <a:t> Notebooks, </a:t>
            </a:r>
            <a:r>
              <a:rPr kumimoji="0" lang="en-US" altLang="en-US" b="0" i="0" u="none" strike="noStrike" cap="none" normalizeH="0" baseline="0" dirty="0" err="1">
                <a:ln>
                  <a:noFill/>
                </a:ln>
                <a:solidFill>
                  <a:schemeClr val="tx1"/>
                </a:solidFill>
                <a:effectLst/>
                <a:latin typeface="Arial" panose="020B0604020202020204" pitchFamily="34" charset="0"/>
              </a:rPr>
              <a:t>Keras</a:t>
            </a:r>
            <a:r>
              <a:rPr kumimoji="0" lang="en-US" altLang="en-US" b="0" i="0" u="none" strike="noStrike" cap="none" normalizeH="0" baseline="0" dirty="0">
                <a:ln>
                  <a:noFill/>
                </a:ln>
                <a:solidFill>
                  <a:schemeClr val="tx1"/>
                </a:solidFill>
                <a:effectLst/>
                <a:latin typeface="Arial" panose="020B0604020202020204" pitchFamily="34" charset="0"/>
              </a:rPr>
              <a:t> (deep learning API)</a:t>
            </a:r>
          </a:p>
          <a:p>
            <a:pPr marL="457200" marR="0" lvl="0" indent="-45720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3. *Automation &amp; Scripting*:   - *Libraries*: Selenium (web automation), </a:t>
            </a:r>
            <a:r>
              <a:rPr kumimoji="0" lang="en-US" altLang="en-US" b="0" i="0" u="none" strike="noStrike" cap="none" normalizeH="0" baseline="0" dirty="0" err="1">
                <a:ln>
                  <a:noFill/>
                </a:ln>
                <a:solidFill>
                  <a:schemeClr val="tx1"/>
                </a:solidFill>
                <a:effectLst/>
                <a:latin typeface="Arial" panose="020B0604020202020204" pitchFamily="34" charset="0"/>
              </a:rPr>
              <a:t>BeautifulSoup</a:t>
            </a:r>
            <a:r>
              <a:rPr kumimoji="0" lang="en-US" altLang="en-US" b="0" i="0" u="none" strike="noStrike" cap="none" normalizeH="0" baseline="0" dirty="0">
                <a:ln>
                  <a:noFill/>
                </a:ln>
                <a:solidFill>
                  <a:schemeClr val="tx1"/>
                </a:solidFill>
                <a:effectLst/>
                <a:latin typeface="Arial" panose="020B0604020202020204" pitchFamily="34" charset="0"/>
              </a:rPr>
              <a:t> (web scraping), Requests (HTTP requests), </a:t>
            </a:r>
            <a:r>
              <a:rPr kumimoji="0" lang="en-US" altLang="en-US" b="0" i="0" u="none" strike="noStrike" cap="none" normalizeH="0" baseline="0" dirty="0" err="1">
                <a:ln>
                  <a:noFill/>
                </a:ln>
                <a:solidFill>
                  <a:schemeClr val="tx1"/>
                </a:solidFill>
                <a:effectLst/>
                <a:latin typeface="Arial" panose="020B0604020202020204" pitchFamily="34" charset="0"/>
              </a:rPr>
              <a:t>Paramiko</a:t>
            </a:r>
            <a:r>
              <a:rPr kumimoji="0" lang="en-US" altLang="en-US" b="0" i="0" u="none" strike="noStrike" cap="none" normalizeH="0" baseline="0" dirty="0">
                <a:ln>
                  <a:noFill/>
                </a:ln>
                <a:solidFill>
                  <a:schemeClr val="tx1"/>
                </a:solidFill>
                <a:effectLst/>
                <a:latin typeface="Arial" panose="020B0604020202020204" pitchFamily="34" charset="0"/>
              </a:rPr>
              <a:t> (SSH connections)</a:t>
            </a:r>
          </a:p>
          <a:p>
            <a:pPr marL="457200" marR="0" lvl="0" indent="-45720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4. *Game Development*:   - *Libraries*: </a:t>
            </a:r>
            <a:r>
              <a:rPr kumimoji="0" lang="en-US" altLang="en-US" b="0" i="0" u="none" strike="noStrike" cap="none" normalizeH="0" baseline="0" dirty="0" err="1">
                <a:ln>
                  <a:noFill/>
                </a:ln>
                <a:solidFill>
                  <a:schemeClr val="tx1"/>
                </a:solidFill>
                <a:effectLst/>
                <a:latin typeface="Arial" panose="020B0604020202020204" pitchFamily="34" charset="0"/>
              </a:rPr>
              <a:t>Pygame</a:t>
            </a:r>
            <a:r>
              <a:rPr kumimoji="0" lang="en-US" altLang="en-US" b="0" i="0" u="none" strike="noStrike" cap="none" normalizeH="0" baseline="0" dirty="0">
                <a:ln>
                  <a:noFill/>
                </a:ln>
                <a:solidFill>
                  <a:schemeClr val="tx1"/>
                </a:solidFill>
                <a:effectLst/>
                <a:latin typeface="Arial" panose="020B0604020202020204" pitchFamily="34" charset="0"/>
              </a:rPr>
              <a:t>, Panda3D, Godot (with Python scripting)</a:t>
            </a:r>
          </a:p>
        </p:txBody>
      </p:sp>
      <p:graphicFrame>
        <p:nvGraphicFramePr>
          <p:cNvPr id="5" name="Table 4">
            <a:extLst>
              <a:ext uri="{FF2B5EF4-FFF2-40B4-BE49-F238E27FC236}">
                <a16:creationId xmlns:a16="http://schemas.microsoft.com/office/drawing/2014/main" id="{AC5DA5D8-A249-9374-7764-25DDBC814F4C}"/>
              </a:ext>
            </a:extLst>
          </p:cNvPr>
          <p:cNvGraphicFramePr>
            <a:graphicFrameLocks noGrp="1"/>
          </p:cNvGraphicFramePr>
          <p:nvPr>
            <p:extLst>
              <p:ext uri="{D42A27DB-BD31-4B8C-83A1-F6EECF244321}">
                <p14:modId xmlns:p14="http://schemas.microsoft.com/office/powerpoint/2010/main" val="4079350144"/>
              </p:ext>
            </p:extLst>
          </p:nvPr>
        </p:nvGraphicFramePr>
        <p:xfrm>
          <a:off x="865239" y="838200"/>
          <a:ext cx="5230761" cy="990599"/>
        </p:xfrm>
        <a:graphic>
          <a:graphicData uri="http://schemas.openxmlformats.org/drawingml/2006/table">
            <a:tbl>
              <a:tblPr/>
              <a:tblGrid>
                <a:gridCol w="5230761">
                  <a:extLst>
                    <a:ext uri="{9D8B030D-6E8A-4147-A177-3AD203B41FA5}">
                      <a16:colId xmlns:a16="http://schemas.microsoft.com/office/drawing/2014/main" val="24187395"/>
                    </a:ext>
                  </a:extLst>
                </a:gridCol>
              </a:tblGrid>
              <a:tr h="990599">
                <a:tc>
                  <a:txBody>
                    <a:bodyPr/>
                    <a:lstStyle/>
                    <a:p>
                      <a:r>
                        <a:rPr lang="en-US" sz="4400" b="1" dirty="0">
                          <a:solidFill>
                            <a:schemeClr val="bg1"/>
                          </a:solidFill>
                          <a:latin typeface="Cambria" panose="02040503050406030204" pitchFamily="18" charset="0"/>
                          <a:ea typeface="Cambria" panose="02040503050406030204" pitchFamily="18" charset="0"/>
                          <a:cs typeface="Calibri" panose="020F0502020204030204" pitchFamily="34" charset="0"/>
                        </a:rPr>
                        <a:t>Technology</a:t>
                      </a:r>
                      <a:r>
                        <a:rPr lang="en-US" sz="4400" b="1" dirty="0">
                          <a:solidFill>
                            <a:schemeClr val="bg1"/>
                          </a:solidFill>
                          <a:latin typeface="Calibri" panose="020F0502020204030204" pitchFamily="34" charset="0"/>
                          <a:ea typeface="Calibri" panose="020F0502020204030204" pitchFamily="34" charset="0"/>
                          <a:cs typeface="Calibri" panose="020F0502020204030204" pitchFamily="34" charset="0"/>
                        </a:rPr>
                        <a:t> Covered</a:t>
                      </a:r>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3014007069"/>
                  </a:ext>
                </a:extLst>
              </a:tr>
            </a:tbl>
          </a:graphicData>
        </a:graphic>
      </p:graphicFrame>
      <p:sp>
        <p:nvSpPr>
          <p:cNvPr id="6" name="Rectangle 5">
            <a:extLst>
              <a:ext uri="{FF2B5EF4-FFF2-40B4-BE49-F238E27FC236}">
                <a16:creationId xmlns:a16="http://schemas.microsoft.com/office/drawing/2014/main" id="{FA88F5D4-CD72-D689-B26E-AC1E00D8F965}"/>
              </a:ext>
            </a:extLst>
          </p:cNvPr>
          <p:cNvSpPr/>
          <p:nvPr/>
        </p:nvSpPr>
        <p:spPr>
          <a:xfrm>
            <a:off x="4375471" y="2967335"/>
            <a:ext cx="393056"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t</a:t>
            </a:r>
          </a:p>
        </p:txBody>
      </p:sp>
    </p:spTree>
    <p:extLst>
      <p:ext uri="{BB962C8B-B14F-4D97-AF65-F5344CB8AC3E}">
        <p14:creationId xmlns:p14="http://schemas.microsoft.com/office/powerpoint/2010/main" val="1743791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381000"/>
            <a:ext cx="7704667" cy="2819401"/>
          </a:xfrm>
        </p:spPr>
        <p:txBody>
          <a:bodyPr/>
          <a:lstStyle/>
          <a:p>
            <a:r>
              <a:rPr lang="en-US" sz="4000" b="1" i="1" dirty="0">
                <a:latin typeface="Cambria" panose="02040503050406030204" pitchFamily="18" charset="0"/>
                <a:ea typeface="Cambria" panose="02040503050406030204" pitchFamily="18" charset="0"/>
              </a:rPr>
              <a:t>ABOUT YOUR TRAINING</a:t>
            </a:r>
          </a:p>
        </p:txBody>
      </p:sp>
      <p:sp>
        <p:nvSpPr>
          <p:cNvPr id="3" name="Content Placeholder 2"/>
          <p:cNvSpPr>
            <a:spLocks noGrp="1"/>
          </p:cNvSpPr>
          <p:nvPr>
            <p:ph idx="1"/>
          </p:nvPr>
        </p:nvSpPr>
        <p:spPr>
          <a:xfrm>
            <a:off x="664633" y="2204884"/>
            <a:ext cx="7814734" cy="4648200"/>
          </a:xfrm>
        </p:spPr>
        <p:txBody>
          <a:bodyPr>
            <a:normAutofit lnSpcReduction="10000"/>
          </a:bodyPr>
          <a:lstStyle/>
          <a:p>
            <a:pPr>
              <a:buNone/>
            </a:pPr>
            <a:endParaRPr lang="en-US" b="1" i="1" dirty="0"/>
          </a:p>
          <a:p>
            <a:pPr>
              <a:buNone/>
            </a:pPr>
            <a:r>
              <a:rPr lang="en-US" sz="2000" b="1" i="1" dirty="0">
                <a:latin typeface="Cambria" panose="02040503050406030204" pitchFamily="18" charset="0"/>
                <a:ea typeface="Cambria" panose="02040503050406030204" pitchFamily="18" charset="0"/>
              </a:rPr>
              <a:t>During my 1 Month Python program its providing practical, industry-relevant skills for careers in software development, web development, data science, and automation. Key topics include:</a:t>
            </a:r>
          </a:p>
          <a:p>
            <a:pPr>
              <a:buNone/>
            </a:pPr>
            <a:r>
              <a:rPr lang="en-US" sz="2000" b="1" i="1" dirty="0">
                <a:latin typeface="Cambria" panose="02040503050406030204" pitchFamily="18" charset="0"/>
                <a:ea typeface="Cambria" panose="02040503050406030204" pitchFamily="18" charset="0"/>
              </a:rPr>
              <a:t>1. *Basic Python Syntax*: Learning variables, data types, control structures, and functions.</a:t>
            </a:r>
          </a:p>
          <a:p>
            <a:pPr>
              <a:buNone/>
            </a:pPr>
            <a:r>
              <a:rPr lang="en-US" sz="2000" b="1" i="1" dirty="0">
                <a:latin typeface="Cambria" panose="02040503050406030204" pitchFamily="18" charset="0"/>
                <a:ea typeface="Cambria" panose="02040503050406030204" pitchFamily="18" charset="0"/>
              </a:rPr>
              <a:t>2. *Object-Oriented Programming (OOP)*: Understanding classes, objects, inheritance, and polymorphism.</a:t>
            </a:r>
          </a:p>
          <a:p>
            <a:pPr>
              <a:buNone/>
            </a:pPr>
            <a:r>
              <a:rPr lang="en-US" sz="2000" b="1" i="1" dirty="0">
                <a:latin typeface="Cambria" panose="02040503050406030204" pitchFamily="18" charset="0"/>
                <a:ea typeface="Cambria" panose="02040503050406030204" pitchFamily="18" charset="0"/>
              </a:rPr>
              <a:t>3. *Web Development*: Building applications with frameworks like Django and Flask.</a:t>
            </a:r>
          </a:p>
          <a:p>
            <a:pPr>
              <a:buNone/>
            </a:pPr>
            <a:r>
              <a:rPr lang="en-US" sz="2000" b="1" i="1" dirty="0">
                <a:latin typeface="Cambria" panose="02040503050406030204" pitchFamily="18" charset="0"/>
                <a:ea typeface="Cambria" panose="02040503050406030204" pitchFamily="18" charset="0"/>
              </a:rPr>
              <a:t>4. *Data Science*: Using libraries like Pandas, NumPy, and Matplotlib for data analysis and visualization</a:t>
            </a:r>
            <a:r>
              <a:rPr lang="en-US" sz="2000" b="1" i="1" dirty="0"/>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CBB59C6-35EA-457F-BC54-41013EE2D73F}"/>
              </a:ext>
            </a:extLst>
          </p:cNvPr>
          <p:cNvSpPr>
            <a:spLocks noGrp="1" noChangeArrowheads="1"/>
          </p:cNvSpPr>
          <p:nvPr>
            <p:ph idx="1"/>
          </p:nvPr>
        </p:nvSpPr>
        <p:spPr bwMode="auto">
          <a:xfrm>
            <a:off x="381000" y="1732003"/>
            <a:ext cx="86868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5. *Automation*: Automating tasks with libraries like Selenium and </a:t>
            </a:r>
            <a:r>
              <a:rPr kumimoji="0" lang="en-US" altLang="en-US" sz="2400" i="0" u="none" strike="noStrike" cap="none" normalizeH="0" baseline="0" dirty="0" err="1">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BeautifulSoup</a:t>
            </a:r>
            <a:r>
              <a:rPr kumimoji="0" lang="en-US" altLang="en-US" sz="240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6. *Database Interaction*: Working with SQL and NoSQL databases.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7. *Software Tools*: Version control (Git), IDEs (PyCharm), and testing frameworks (</a:t>
            </a:r>
            <a:r>
              <a:rPr kumimoji="0" lang="en-US" altLang="en-US" sz="2400" i="0" u="none" strike="noStrike" cap="none" normalizeH="0" baseline="0" dirty="0" err="1">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unittest</a:t>
            </a:r>
            <a:r>
              <a:rPr kumimoji="0" lang="en-US" altLang="en-US" sz="240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 </a:t>
            </a:r>
            <a:r>
              <a:rPr kumimoji="0" lang="en-US" altLang="en-US" sz="2400" i="0" u="none" strike="noStrike" cap="none" normalizeH="0" baseline="0" dirty="0" err="1">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PyTest</a:t>
            </a:r>
            <a:r>
              <a:rPr kumimoji="0" lang="en-US" altLang="en-US" sz="240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8. *Projects*: Real-world projects to build a professional portfolio.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The training combines theoretical knowledge with hands-on practice, preparing learners for job-ready positions in tech.</a:t>
            </a:r>
          </a:p>
        </p:txBody>
      </p:sp>
    </p:spTree>
    <p:extLst>
      <p:ext uri="{BB962C8B-B14F-4D97-AF65-F5344CB8AC3E}">
        <p14:creationId xmlns:p14="http://schemas.microsoft.com/office/powerpoint/2010/main" val="35727275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AB47-6010-4FC9-9E9B-6FDA85C872B7}"/>
              </a:ext>
            </a:extLst>
          </p:cNvPr>
          <p:cNvSpPr>
            <a:spLocks noGrp="1"/>
          </p:cNvSpPr>
          <p:nvPr>
            <p:ph type="title"/>
          </p:nvPr>
        </p:nvSpPr>
        <p:spPr>
          <a:xfrm>
            <a:off x="1143000" y="990600"/>
            <a:ext cx="6343672" cy="709865"/>
          </a:xfrm>
        </p:spPr>
        <p:txBody>
          <a:bodyPr/>
          <a:lstStyle/>
          <a:p>
            <a:r>
              <a:rPr lang="en-US" sz="4000" b="1" i="1" dirty="0"/>
              <a:t>CONCLUSION</a:t>
            </a:r>
          </a:p>
        </p:txBody>
      </p:sp>
      <p:sp>
        <p:nvSpPr>
          <p:cNvPr id="3" name="Content Placeholder 2">
            <a:extLst>
              <a:ext uri="{FF2B5EF4-FFF2-40B4-BE49-F238E27FC236}">
                <a16:creationId xmlns:a16="http://schemas.microsoft.com/office/drawing/2014/main" id="{961FEC57-631C-4D60-84F3-0B76E41A56F5}"/>
              </a:ext>
            </a:extLst>
          </p:cNvPr>
          <p:cNvSpPr>
            <a:spLocks noGrp="1"/>
          </p:cNvSpPr>
          <p:nvPr>
            <p:ph idx="1"/>
          </p:nvPr>
        </p:nvSpPr>
        <p:spPr>
          <a:xfrm>
            <a:off x="228601" y="2133600"/>
            <a:ext cx="8305800" cy="5105400"/>
          </a:xfrm>
        </p:spPr>
        <p:txBody>
          <a:bodyPr>
            <a:normAutofit/>
          </a:bodyPr>
          <a:lstStyle/>
          <a:p>
            <a:endParaRPr lang="en-US" sz="2000" dirty="0"/>
          </a:p>
          <a:p>
            <a:r>
              <a:rPr lang="en-US" sz="2000" dirty="0">
                <a:latin typeface="Cambria" panose="02040503050406030204" pitchFamily="18" charset="0"/>
                <a:ea typeface="Cambria" panose="02040503050406030204" pitchFamily="18" charset="0"/>
              </a:rPr>
              <a:t>Learning Python offers a versatile and beginner-friendly introduction to programming. Its simple syntax makes it ideal for beginners, while its powerful libraries and frameworks support advanced applications in fields like web development, data science, machine learning, automation, and more. Python's active community and extensive documentation make it easy to find resources and solutions. As a high-level language, it allows developers to focus on problem-solving rather than technical details, enhancing productivity. Overall, mastering Python equips you with essential programming skills applicable across various industries, making it a valuable tool for both personal projects and professional growth.</a:t>
            </a:r>
          </a:p>
        </p:txBody>
      </p:sp>
    </p:spTree>
    <p:extLst>
      <p:ext uri="{BB962C8B-B14F-4D97-AF65-F5344CB8AC3E}">
        <p14:creationId xmlns:p14="http://schemas.microsoft.com/office/powerpoint/2010/main" val="258501326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62392"/>
            <a:ext cx="7704667" cy="2743201"/>
          </a:xfrm>
        </p:spPr>
        <p:txBody>
          <a:bodyPr>
            <a:normAutofit/>
          </a:bodyPr>
          <a:lstStyle/>
          <a:p>
            <a:pPr algn="ctr"/>
            <a:r>
              <a:rPr lang="en-US" sz="4800" b="1" i="1" dirty="0">
                <a:latin typeface="Cambria" panose="02040503050406030204" pitchFamily="18" charset="0"/>
                <a:ea typeface="Cambria" panose="02040503050406030204" pitchFamily="18" charset="0"/>
              </a:rPr>
              <a:t>Thank you </a:t>
            </a:r>
            <a:br>
              <a:rPr lang="en-US" sz="4800" i="1" dirty="0"/>
            </a:br>
            <a:endParaRPr lang="en-US" sz="4800" i="1" dirty="0"/>
          </a:p>
        </p:txBody>
      </p:sp>
      <p:sp>
        <p:nvSpPr>
          <p:cNvPr id="3" name="Content Placeholder 2"/>
          <p:cNvSpPr>
            <a:spLocks noGrp="1"/>
          </p:cNvSpPr>
          <p:nvPr>
            <p:ph idx="1"/>
          </p:nvPr>
        </p:nvSpPr>
        <p:spPr>
          <a:xfrm>
            <a:off x="914400" y="2148508"/>
            <a:ext cx="7704667" cy="3642692"/>
          </a:xfrm>
        </p:spPr>
        <p:txBody>
          <a:bodyPr>
            <a:normAutofit/>
          </a:bodyPr>
          <a:lstStyle/>
          <a:p>
            <a:pPr>
              <a:buNone/>
            </a:pPr>
            <a:r>
              <a:rPr lang="en-US" sz="2000" dirty="0">
                <a:latin typeface="Cambria" panose="02040503050406030204" pitchFamily="18" charset="0"/>
                <a:ea typeface="Cambria" panose="02040503050406030204" pitchFamily="18" charset="0"/>
                <a:cs typeface="Calibri" panose="020F0502020204030204" pitchFamily="34" charset="0"/>
              </a:rPr>
              <a:t>     </a:t>
            </a:r>
          </a:p>
          <a:p>
            <a:pPr>
              <a:buNone/>
            </a:pPr>
            <a:r>
              <a:rPr lang="en-US" sz="2000" dirty="0">
                <a:latin typeface="Cambria" panose="02040503050406030204" pitchFamily="18" charset="0"/>
                <a:ea typeface="Cambria" panose="02040503050406030204" pitchFamily="18" charset="0"/>
                <a:cs typeface="Calibri" panose="020F0502020204030204" pitchFamily="34" charset="0"/>
              </a:rPr>
              <a:t>      I am deeply grateful for the opportunity to participate in the 1 month bootcamp focused on programing Essentials in Python. This training was an incredible learning experience, equipping me with practical skills in web development, including structuring webpages, designing responsive layouts, and styling elements to match a real-world application. The hands-on approach, coupled with expert guidance and detailed feedback, allowed me to build confidence in using Python effectively. I extend my heartfelt thanks to the instructors, mentors, and my peers for their support and collaboration throughout this enriching journey. Thank you!</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TM02900722[[fn=Ion Boardroom]]</Template>
  <TotalTime>1060</TotalTime>
  <Words>812</Words>
  <Application>Microsoft Office PowerPoint</Application>
  <PresentationFormat>On-screen Show (4:3)</PresentationFormat>
  <Paragraphs>45</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Calisto MT</vt:lpstr>
      <vt:lpstr>Cambria</vt:lpstr>
      <vt:lpstr>Century Gothic</vt:lpstr>
      <vt:lpstr>Wingdings 2</vt:lpstr>
      <vt:lpstr>Wingdings 3</vt:lpstr>
      <vt:lpstr>Ion Boardroom</vt:lpstr>
      <vt:lpstr>SUMMER TRAINING REPORT</vt:lpstr>
      <vt:lpstr>VOCATIONAL TRAINING CERTIFICATE</vt:lpstr>
      <vt:lpstr>INTRODUCTION</vt:lpstr>
      <vt:lpstr>TECHNOLOGY</vt:lpstr>
      <vt:lpstr>PowerPoint Presentation</vt:lpstr>
      <vt:lpstr>ABOUT YOUR TRAINING</vt:lpstr>
      <vt:lpstr>PowerPoint Presentation</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VT  Project</dc:title>
  <dc:creator>CRMC</dc:creator>
  <cp:lastModifiedBy>shubham kumar singh</cp:lastModifiedBy>
  <cp:revision>25</cp:revision>
  <dcterms:created xsi:type="dcterms:W3CDTF">2021-10-29T10:42:48Z</dcterms:created>
  <dcterms:modified xsi:type="dcterms:W3CDTF">2024-11-19T16:23:35Z</dcterms:modified>
</cp:coreProperties>
</file>